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a URL alguns minutos antes. O primeiro acesso depois de um deploy leva alguns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segundos. Nao se alongar aqui — o peso da apresentacao esta no modelo e na transacao.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 o argumento central do trabalho. Se so uma coisa for lembrada, que seja 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perguntarem sobre desnormalizacao: preco_unitario duplica produtos.preco de proposito, porque sao fatos diferentes — 'quanto custa hoje' e 'quanto custou naquela compra'.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pedirem para explicar cada constraint: preco&gt;=0, estoque&gt;=0, quantidade&gt;0, os tres dominios fechados (torra, moagem, status), o email UNIQUE e a UNIQUE composta de pedido+produto+moagem.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de parada sugerido pelo briefing: mostrar o caminho do rollback linha por linha no app.py.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a loja de verdade aqui, nao ficar no slide. Filtrar por regiao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momento mais importante da apresentacao. Fazer ao vivo: tentar comprar 2 do Chapada Geisha, mostrar a mensagem, e rodar o SELECT no painel do banco provando que nada foi gravado.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no painel do Postgres o registro aparecendo no instante seguinte ao checkout.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perguntarem por que um indice nao foi usado: e a resposta acima. Saber explicar isso vale mais do que ter os tres planos usando indice.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Pendencia honesta, se perguntarem: o deploy automatico a cada push nao esta ativo porque o repositorio e de outra conta do GitHub e a Railway GitHub App precisa da autorizacao do dono.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a loja aberta numa aba e o painel do Postgres em outra, para as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965960"/>
            <a:ext cx="110550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Torra </a:t>
            </a:r>
            <a:pPr indent="0" marL="0">
              <a:buNone/>
            </a:pPr>
            <a:r>
              <a:rPr lang="en-US" sz="66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</a:t>
            </a:r>
            <a:pPr indent="0" marL="0">
              <a:buNone/>
            </a:pPr>
            <a:r>
              <a:rPr lang="en-US" sz="6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Terra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3832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de café especial em Flask e PostgreSQL.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levantamento de requisitos ao deploy em cloud.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1732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B9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FACAMP · TRATAMENTO E ARMAZENAMENTO DA INFORMAÇÃO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892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nivaldo.felipefurlan.com.br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5303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Nivaldo T. Marcusso</a:t>
            </a:r>
            <a:endParaRPr lang="en-US" sz="1300" dirty="0"/>
          </a:p>
        </p:txBody>
      </p:sp>
      <p:pic>
        <p:nvPicPr>
          <p:cNvPr id="7" name="Image 0" descr="C:/projetos/Nivaldo/docs/capturas/10_mobile_cata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32520" y="1051560"/>
            <a:ext cx="23317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554480"/>
            <a:ext cx="55778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" y="1920240"/>
            <a:ext cx="457200" cy="457200"/>
          </a:xfrm>
          <a:prstGeom prst="ellipse">
            <a:avLst/>
          </a:prstGeom>
          <a:solidFill>
            <a:srgbClr val="FBF0E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59536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99616" y="177393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fora de controle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99616" y="21031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vendas em paralelo, e o mesmo lote sai duas vezes.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971800"/>
            <a:ext cx="55778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" y="3337560"/>
            <a:ext cx="457200" cy="457200"/>
          </a:xfrm>
          <a:prstGeom prst="ellipse">
            <a:avLst/>
          </a:prstGeom>
          <a:solidFill>
            <a:srgbClr val="FBF0E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59536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99616" y="319125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pela metade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99616" y="35204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Cabeçalho gravado sem itens, ou total que não bate com a soma.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37960" y="1554480"/>
            <a:ext cx="5084064" cy="2880360"/>
          </a:xfrm>
          <a:prstGeom prst="roundRect">
            <a:avLst>
              <a:gd name="adj" fmla="val 2857"/>
            </a:avLst>
          </a:prstGeom>
          <a:solidFill>
            <a:srgbClr val="FBF0E9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0" y="18745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CENTRAL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22402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3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estruturar uma loja que liste os cafés, monte um carrinho e conclua o pedido com integridade garantida pelo banco de dados?</a:t>
            </a:r>
            <a:endParaRPr lang="en-US" sz="23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48006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loja é o pretexto. O que está sendo demonstrado é modelagem, constraints, transação e deploy.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café especial, e não um e-commerce genérico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3258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moagem é escolhida na compra — não no cadastro do produto.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874520"/>
            <a:ext cx="5852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café pode sair em grão para um cliente e moído fino para outro, no mesmo dia.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46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moagem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fosse coluna de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46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produtos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 mesmo café viraria três cadastros — e o controle de estoque, que é do café e não da moagem, quebraria.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esse atributo que faz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46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itens_pedido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 uma entidade de verdade, e não uma tabela de ligação.</a:t>
            </a:r>
            <a:endParaRPr lang="en-US" sz="1400" dirty="0"/>
          </a:p>
        </p:txBody>
      </p:sp>
      <p:pic>
        <p:nvPicPr>
          <p:cNvPr id="5" name="Image 0" descr="C:/projetos/Nivaldo/docs/capturas/03_produto_detalh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20840" y="1325880"/>
            <a:ext cx="489204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de dados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417320"/>
            <a:ext cx="349300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4767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nome · email UK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senha_hash · criado_em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88536" y="1417320"/>
            <a:ext cx="349300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44568" y="1600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44568" y="194767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nome UK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regiao · descricao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010144" y="1417320"/>
            <a:ext cx="349300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66176" y="1600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66176" y="194767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nome · preco · estoque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categoria_id FK · torra · sca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017520"/>
            <a:ext cx="349300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200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54787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cliente_id FK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total · criado_em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88536" y="3017520"/>
            <a:ext cx="3493008" cy="1371600"/>
          </a:xfrm>
          <a:prstGeom prst="roundRect">
            <a:avLst>
              <a:gd name="adj" fmla="val 6000"/>
            </a:avLst>
          </a:prstGeom>
          <a:solidFill>
            <a:srgbClr val="FBF0E9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44568" y="3200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6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itens_pedido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44568" y="354787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pedido_id FK · produto_id FK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quantidade · preco_unitario · moagem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10144" y="3017520"/>
            <a:ext cx="349300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66176" y="3200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Cardinalidades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66176" y="35204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cliente → N pedidos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pedido → N itens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categoria → N produtos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4709160"/>
            <a:ext cx="11055096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" y="48920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6968" y="5212080"/>
            <a:ext cx="10415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1FN </a:t>
            </a:r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atômicos    </a:t>
            </a:r>
            <a:pPr indent="0" marL="0">
              <a:buNone/>
            </a:pPr>
            <a:r>
              <a:rPr lang="en-US" sz="13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2FN </a:t>
            </a:r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depende de parte da chave    </a:t>
            </a:r>
            <a:pPr indent="0" marL="0">
              <a:buNone/>
            </a:pPr>
            <a:r>
              <a:rPr lang="en-US" sz="13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3FN </a:t>
            </a:r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 separada evita dependência transitiva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constraints vivem no banco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41732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7276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237744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364992" y="141732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21024" y="157276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639312" y="237744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63056" y="141732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9088" y="157276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437376" y="237744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961120" y="141732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17152" y="157276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237744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0175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SQL/schema.sql é DDL escrito à mão.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db.create_all() não é chamado em lugar nenhum do projeto — as constraints precisam estar visíveis em SQL, não escondidas no ORM.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40690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validação do formulário protege a experiência.
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constraint protege o dado.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37960" y="3017520"/>
            <a:ext cx="5084064" cy="2377440"/>
          </a:xfrm>
          <a:prstGeom prst="roundRect">
            <a:avLst>
              <a:gd name="adj" fmla="val 3462"/>
            </a:avLst>
          </a:prstGeom>
          <a:solidFill>
            <a:srgbClr val="FBF0E9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32918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MAIS DIDÁTICA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pontuacao_sca BETWEEN 80 AND 100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406908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 especial, pela definição da SCA, pontua 80 ou mais. Não é preferência de interface — é o que define o produto. Regra de negócio pura, e por isso mora no banco.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57784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Dinheiro é NUMERIC(10,2), nunca FLOAT — ponto flutuante binário não representa 0,10 exatamente, e o erro se acumula ao somar os itens.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transação de checkout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8872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Tudo-ou-nada, em duas fases dentro de uma única transação.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46504"/>
            <a:ext cx="402336" cy="402336"/>
          </a:xfrm>
          <a:prstGeom prst="ellipse">
            <a:avLst/>
          </a:prstGeom>
          <a:solidFill>
            <a:srgbClr val="FBF0E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746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61288" y="1691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61288" y="19751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a transação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459736"/>
            <a:ext cx="402336" cy="402336"/>
          </a:xfrm>
          <a:prstGeom prst="ellipse">
            <a:avLst/>
          </a:prstGeom>
          <a:solidFill>
            <a:srgbClr val="FBF0E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" y="24048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6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… FOR UPDATE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61288" y="26883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 cada café, em ordem crescente de id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172968"/>
            <a:ext cx="402336" cy="402336"/>
          </a:xfrm>
          <a:prstGeom prst="ellipse">
            <a:avLst/>
          </a:prstGeom>
          <a:solidFill>
            <a:srgbClr val="FBF0E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3172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" y="31181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6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 TODOS os itens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61288" y="34015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existe? tem estoque? nada foi gravado ainda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886200"/>
            <a:ext cx="402336" cy="402336"/>
          </a:xfrm>
          <a:prstGeom prst="ellipse">
            <a:avLst/>
          </a:prstGeom>
          <a:solidFill>
            <a:srgbClr val="FBF0E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" y="3886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61288" y="38313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pedido + itens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61288" y="4114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preco_unitario congelado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599432"/>
            <a:ext cx="402336" cy="402336"/>
          </a:xfrm>
          <a:prstGeom prst="ellipse">
            <a:avLst/>
          </a:prstGeom>
          <a:solidFill>
            <a:srgbClr val="FBF0E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" y="4599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61288" y="45445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estoque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61288" y="48280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o saldo de cada café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5312664"/>
            <a:ext cx="402336" cy="402336"/>
          </a:xfrm>
          <a:prstGeom prst="ellipse">
            <a:avLst/>
          </a:prstGeom>
          <a:solidFill>
            <a:srgbClr val="EEF6F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66928" y="5312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61288" y="52578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 · ROLLBACK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61288" y="55412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tudo, ou absolutamente nada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37960" y="1691640"/>
            <a:ext cx="508406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49440" y="19202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TRAVAR EM ORDEM DE ID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224028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compras simultâneas que travassem os mesmos cafés em ordens opostas ficariam em deadlock, cada uma esperando a outra. Ordenar elimina o ciclo antes que ele exista.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537960" y="3886200"/>
            <a:ext cx="5084064" cy="2011680"/>
          </a:xfrm>
          <a:prstGeom prst="roundRect">
            <a:avLst>
              <a:gd name="adj" fmla="val 4091"/>
            </a:avLst>
          </a:prstGeom>
          <a:solidFill>
            <a:srgbClr val="FBF0E9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49440" y="4114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CAMADAS DE DEFESA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443484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navegador barra pelo atributo max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aplicação valida com a linha travada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constraint estoque &gt;= 0 é a última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loja no ar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70432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nivaldo.felipefurlan.com.br  ·  HTTPS válido  ·  12 cafés lidos do banco de produção</a:t>
            </a:r>
            <a:endParaRPr lang="en-US" sz="1400" dirty="0"/>
          </a:p>
        </p:txBody>
      </p:sp>
      <p:pic>
        <p:nvPicPr>
          <p:cNvPr id="4" name="Image 0" descr="C:/projetos/Nivaldo/docs/capturas/01_cata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600200"/>
            <a:ext cx="758952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12480" y="1600200"/>
            <a:ext cx="320040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0" y="1810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RF01 · CATÁLOGO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686800" y="2121408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região, torra, pontuação SCA e nota sensorial. Preço sempre em R$ 0,00.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412480" y="3794760"/>
            <a:ext cx="3200400" cy="2103120"/>
          </a:xfrm>
          <a:prstGeom prst="roundRect">
            <a:avLst>
              <a:gd name="adj" fmla="val 3913"/>
            </a:avLst>
          </a:prstGeom>
          <a:solidFill>
            <a:srgbClr val="FBF0E9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0" y="40050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686800" y="4315968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puro, sem framework. Mobile-first: uma coluna no celular, três no desktop. Sem gradiente, sem sombra.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cenário de erro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70432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Tentativa de comprar 2 unidades de um café com estoque 1.</a:t>
            </a:r>
            <a:endParaRPr lang="en-US" sz="1400" dirty="0"/>
          </a:p>
        </p:txBody>
      </p:sp>
      <p:pic>
        <p:nvPicPr>
          <p:cNvPr id="4" name="Image 0" descr="C:/projetos/Nivaldo/docs/capturas/08_rollback_estoque_insuficien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600200"/>
            <a:ext cx="758952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12480" y="1600200"/>
            <a:ext cx="3200400" cy="2148840"/>
          </a:xfrm>
          <a:prstGeom prst="roundRect">
            <a:avLst>
              <a:gd name="adj" fmla="val 3830"/>
            </a:avLst>
          </a:prstGeom>
          <a:solidFill>
            <a:srgbClr val="FDF0ED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0" y="1810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A8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MENSAGEM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686800" y="2121408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Nomeia o café que faltou e informa o saldo real. O carrinho é preservado, para o cliente corrigir sem remontar a compra.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412480" y="3931920"/>
            <a:ext cx="3200400" cy="1965960"/>
          </a:xfrm>
          <a:prstGeom prst="roundRect">
            <a:avLst>
              <a:gd name="adj" fmla="val 4186"/>
            </a:avLst>
          </a:prstGeom>
          <a:solidFill>
            <a:srgbClr val="EEF6F1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0" y="41330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NO BANCO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686800" y="4453128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 = 0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itens_pedido = 0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estoque = 1  intacto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compra que dá certo</a:t>
            </a:r>
            <a:endParaRPr lang="en-US" sz="3400" dirty="0"/>
          </a:p>
        </p:txBody>
      </p:sp>
      <p:pic>
        <p:nvPicPr>
          <p:cNvPr id="3" name="Image 0" descr="C:/projetos/Nivaldo/docs/capturas/09_meus_pedido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71600"/>
            <a:ext cx="5852160" cy="44805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720840" y="1371600"/>
            <a:ext cx="4901184" cy="2286000"/>
          </a:xfrm>
          <a:prstGeom prst="roundRect">
            <a:avLst>
              <a:gd name="adj" fmla="val 3600"/>
            </a:avLst>
          </a:prstGeom>
          <a:solidFill>
            <a:srgbClr val="FBF0E9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086600" y="1600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LINHAS DO MESMO CAFÉ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086600" y="193852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 #5 | Piata Altitude | 2x | GRAO | R$ 89,00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 #5 | Piata Altitude | 1x | FINA | R$ 89,00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7086600" y="27432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prova concreta de que itens_pedido é entidade: mesmo produto, mesmo pedido, duas linhas — porque a moagem difere.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720840" y="3794760"/>
            <a:ext cx="4901184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086600" y="4023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 VERIFICADA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086600" y="434340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R$ 178,00 + R$ 89,00 = R$ 267,00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total gravado bate com a soma dos itens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Piata Altitude: 18 → 15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estoque desceu exatamente 3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417320"/>
            <a:ext cx="349300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59536" y="16002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77824" y="23957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PASSANDO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2697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um PostgreSQL real, não SQLite — o FOR UPDATE e as constraints CHECK são justamente o que precisa ser testado.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88536" y="1417320"/>
            <a:ext cx="349300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81144" y="16002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23957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ACHADOS DO OWASP ZAP CORRIGIDOS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2697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CSRF, flags do cookie e os cabeçalhos. O CSP usa script-src 'none' — a loja não tem JavaScript, o que torna XSS inviável.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10144" y="1417320"/>
            <a:ext cx="349300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02752" y="16002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6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3957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ÍNDICES, CADA UM JUSTIFICADO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302752" y="2697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acelera leitura mas encarece escrita. Criar por precaução é custo sem benefício.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931920"/>
            <a:ext cx="11055096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6968" y="41605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EXPLAIN MOSTROU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" y="4498848"/>
            <a:ext cx="10415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categoria_id = 4</a:t>
            </a:r>
            <a:pPr indent="0" marL="0">
              <a:buNone/>
            </a:pPr>
            <a:r>
              <a:rPr lang="en-US" sz="1250" b="1" dirty="0">
                <a:solidFill>
                  <a:srgbClr val="2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Index Scan          </a:t>
            </a:r>
            <a:pPr indent="0" marL="0">
              <a:buNone/>
            </a:pPr>
            <a:r>
              <a:rPr lang="en-US" sz="125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cliente_id = 2</a:t>
            </a:r>
            <a:pPr indent="0" marL="0">
              <a:buNone/>
            </a:pPr>
            <a:r>
              <a:rPr lang="en-US" sz="1250" b="1" dirty="0">
                <a:solidFill>
                  <a:srgbClr val="2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Bitmap Index Scan          </a:t>
            </a:r>
            <a:pPr indent="0" marL="0">
              <a:buNone/>
            </a:pPr>
            <a:r>
              <a:rPr lang="en-US" sz="125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nome</a:t>
            </a:r>
            <a:pPr indent="0" marL="0">
              <a:buNone/>
            </a:pPr>
            <a:r>
              <a:rPr lang="en-US" sz="125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Seq Scan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86968" y="4983480"/>
            <a:ext cx="10415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é a seletividade. As duas primeiras filtram poucas linhas de muitas — compensa consultar o índice. A terceira precisa de todas as linhas: usar o índice seria ler o índice inteiro e depois a tabela inteira. O planejador está certo nos três casos.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e operação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417320"/>
            <a:ext cx="25603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" y="16276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· gunicorn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64992" y="1417320"/>
            <a:ext cx="25603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39312" y="16276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621024" y="19202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18.6 gerenciado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63056" y="1417320"/>
            <a:ext cx="25603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37376" y="16276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19088" y="19202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· Let's Encrypt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961120" y="1417320"/>
            <a:ext cx="25603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35440" y="16276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217152" y="19202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· 23 commits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2788920"/>
            <a:ext cx="557784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6968" y="30175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E RESTAURAÇÃO — TESTADOS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" y="333756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só é confiável quando a restauração também é testada.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origem      12 · 4 · 2 · 2 · 3
restaurado  12 · 4 · 2 · 2 · 3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e índices, todos presentes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 regra ainda funciona no destino: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832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violates check constraint "ck_produtos_preco"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37960" y="2788920"/>
            <a:ext cx="5084064" cy="3108960"/>
          </a:xfrm>
          <a:prstGeom prst="roundRect">
            <a:avLst>
              <a:gd name="adj" fmla="val 2647"/>
            </a:avLst>
          </a:prstGeom>
          <a:solidFill>
            <a:srgbClr val="FBF0E9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49440" y="30175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DO MVP, DOCUMENTADAS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3364992"/>
            <a:ext cx="4434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pagamento real e sem frete
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controle de lote e data de torra — a evolução mais natural do domínio
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área administrativa nem relatórios
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Carrinho na sessão: não sobrevive à troca de dispositivo. É exatamente onde um Redis passaria a fazer sentido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9202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lógica do projeto é cumulativa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9260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C9C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análise  →  boa modelagem  →  bom banco
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C9C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boa aplicação  →  boa qualidade  →  bom deploy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1148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9B9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requisito for fraco, o modelo fica confuso. Se o modelo for fraco, o banco fica inconsistente. Se o banco for fraco, a aplicação falha.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nivaldo.felipefurlan.com.br</a:t>
            </a:r>
            <a:endParaRPr lang="en-US" sz="1600" dirty="0"/>
          </a:p>
        </p:txBody>
      </p:sp>
      <p:pic>
        <p:nvPicPr>
          <p:cNvPr id="6" name="Image 0" descr="C:/projetos/Nivaldo/docs/capturas/10_mobile_cata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052560" y="1188720"/>
            <a:ext cx="2194560" cy="4526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Torra &amp; Terra — defesa</dc:title>
  <dc:subject>PptxGenJS Presentation</dc:subject>
  <dc:creator>Felipe Furlan</dc:creator>
  <cp:lastModifiedBy>Felipe Furlan</cp:lastModifiedBy>
  <cp:revision>1</cp:revision>
  <dcterms:created xsi:type="dcterms:W3CDTF">2026-09-02T22:59:20Z</dcterms:created>
  <dcterms:modified xsi:type="dcterms:W3CDTF">2026-09-02T22:59:20Z</dcterms:modified>
</cp:coreProperties>
</file>