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grupo. Dizer em uma frase o que e o projeto: uma loja de cafe especial onde o que importa nao e a loja, e a integridade do dado. A demonstracao ao vivo fica para 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importante: a ordem nao foi acidental. Requisito gera entidade, entidade gera tabela, tabela alimenta o ORM, o ORM sustenta as rotas, as rotas precisam de transacao e teste, e tudo culmina no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por que psycopg 3 e nao 2: e a versao atual do driver, e ela exige o dialeto postgresql+psycopg:// na string de conexao — algo que teve que ser tratado no codigo porque os provedores de cloud entregam postgresql:// puro.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Ferramenta e escolha, e toda escolha tem justificativa. O Railway em vez de Render+Neon esta documentado em docs/decisoes.md, decisao D01, incluindo como migrar se fosse necessario.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por que gastar tempo com requisito: porque requisito mal definido gera tabela errada. A decisao do carrinho em sessao veio daqui, e ela nos poupou uma tabela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Espaco para falar: escolher duas ou tres constraints e explicar o que aconteceria sem cada uma. A da SCA e a mais didatica porque e regra de negocio pura.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vale abrir o app.py e mostrar o caminho do rollback linha por linha, se houver tempo. O SELECT FOR UPDATE e o que impede vender o mesmo lote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o caso do EXTRAFINA como historia: e o tipo de erro que so aparece quando voce roda o teste de verdade e le a mensagem, em vez de confiar que passou.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 a parte mais honesta da apresentacao e provavelmente a que mais rende conversa. Mostrar que a gente conferiu em producao em vez de assumir que estava certo.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alerta nao foi corrigido, e vale dizer por que: SRI no Google Fonts nao e aplicavel porque o CSS varia por navegador e o hash mudaria por visitante. A mitigacao e o proprio CSP.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Saber o que NAO foi feito, e por que, vale tanto quanto o que foi. Cada limitacao aqui esta documentada no repositorio com a justificativa.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a loja alguns minutos antes. Deixar o painel do Postgres numa segunda aba. O passo 4 e o que mais impressiona: a mensagem nomeia o cafe que faltou, e o SELECT depois mostra que a contagem de pedidos nao mudou.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Torra </a:t>
            </a:r>
            <a:pPr indent="0" marL="0">
              <a:buNone/>
            </a:pPr>
            <a:r>
              <a:rPr lang="en-US" sz="60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</a:t>
            </a:r>
            <a:pPr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Terra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54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requisito ao deploy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77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construímos um e-commerce com integridade garantida pelo banco de dados.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FACAMP · TRATAMENTO E ARMAZENAMENTO DA INFORMAÇÃO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349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Nivaldo T. Marcusso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trabalhamos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etapas, uma revisão entre cada uma, um commit por etapa.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603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048256"/>
            <a:ext cx="457200" cy="457200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78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852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RF, RNF e aceite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38144" y="1828800"/>
            <a:ext cx="25603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94176" y="2048256"/>
            <a:ext cx="457200" cy="457200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94176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94176" y="2578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SQL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94176" y="2852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 à mão, com constraints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6208" y="1828800"/>
            <a:ext cx="25603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048256"/>
            <a:ext cx="457200" cy="457200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2578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ORM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852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espelhando o schema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34272" y="1828800"/>
            <a:ext cx="25603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90304" y="2048256"/>
            <a:ext cx="457200" cy="457200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90304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2578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90304" y="2852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detalhe do produto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520440"/>
            <a:ext cx="25603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112" y="3739896"/>
            <a:ext cx="457200" cy="457200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96112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270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4544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e sessão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438144" y="3520440"/>
            <a:ext cx="25603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94176" y="3739896"/>
            <a:ext cx="457200" cy="457200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694176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694176" y="4270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694176" y="4544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escolha de moagem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6208" y="3520440"/>
            <a:ext cx="2560320" cy="1417320"/>
          </a:xfrm>
          <a:prstGeom prst="roundRect">
            <a:avLst>
              <a:gd name="adj" fmla="val 5806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3739896"/>
            <a:ext cx="457200" cy="457200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92240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270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4544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transação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034272" y="3520440"/>
            <a:ext cx="25603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290304" y="3739896"/>
            <a:ext cx="457200" cy="457200"/>
          </a:xfrm>
          <a:prstGeom prst="ellipse">
            <a:avLst/>
          </a:prstGeom>
          <a:solidFill>
            <a:srgbClr val="FBF0E9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290304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290304" y="4270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290304" y="4544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documentação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etapa começou antes da anterior ser revisada. O histórico do Git conta essa ordem — são commits que contam a construção, não um único “projeto pronto”.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e linguagens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que uma requisição percorre, da barra de endereço até o disco.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57276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02996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40864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CSS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231136" y="212140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487168" y="1828800"/>
            <a:ext cx="157276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96896" y="202996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gunicorn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596896" y="2340864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WSGI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078224" y="212140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334256" y="1828800"/>
            <a:ext cx="1572768" cy="1051560"/>
          </a:xfrm>
          <a:prstGeom prst="roundRect">
            <a:avLst>
              <a:gd name="adj" fmla="val 7826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02996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340864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 e regras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925312" y="212140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181344" y="1828800"/>
            <a:ext cx="1572768" cy="1051560"/>
          </a:xfrm>
          <a:prstGeom prst="roundRect">
            <a:avLst>
              <a:gd name="adj" fmla="val 7826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91072" y="202996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2340864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12140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028432" y="1828800"/>
            <a:ext cx="1572768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38160" y="202996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psycopg 3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2340864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619488" y="212140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875520" y="1828800"/>
            <a:ext cx="1572768" cy="1051560"/>
          </a:xfrm>
          <a:prstGeom prst="roundRect">
            <a:avLst>
              <a:gd name="adj" fmla="val 7826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85248" y="202996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985248" y="2340864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2004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CAMADA E A SUA LINGUAGEM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5661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10312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HTML, CSS e Jinja2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394960" y="35661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puro, sem framework — nem Bootstrap, nem Tailwind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416966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103120" y="4169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3.11 com Flask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394960" y="416966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rotas, sessão e as regras de negócio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77316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2103120" y="47731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SQLAlchemy sobre psycopg 3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394960" y="477316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espelham o schema, não o geram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53766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2103120" y="5376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62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— DDL escrito à mão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394960" y="53766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onde as constraints vivem e são auditáveis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stack foi fechada no início e não mudou: PostgreSQL, Python, Flask, SQLAlchemy, Jinja, psycopg 3, gunicorn, pytest e python-dotenv.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usamos em cada etapa, e para quê.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370332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E BANCO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05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Mermaid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2491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versionado junto com o código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2783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psql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50215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o schema e tirar evidências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00507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27939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conferir se os índices são usados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7823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pg_dump / pg_restore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566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e o teste de restauração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828800"/>
            <a:ext cx="3429000" cy="370332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17720" y="20574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24505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Code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272491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edição e terminal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322783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e GitHub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617720" y="350215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commits, um por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400507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427939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programação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47823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python-dotenv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50566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segredos fora do código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1828800"/>
            <a:ext cx="3429000" cy="370332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21040" y="20574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OPERAÇÃO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24505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72491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testes contra Postgres real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322783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OWASP ZAP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350215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varredura de segurança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400507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Railway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27939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e banco em cloud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7823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Playwright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50566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automatizadas das telas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7150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material da disciplina sugere Render e Neon para o deploy. Escolhemos o Railway porque hospeda aplicação e banco no mesmo projeto — e documentamos a escolha, com o caminho de volta caso fosse exigido.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0 — Requisitos antes de qualquer código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tentação é começar pelo schema. Começamos pelo problema.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94960" cy="1828800"/>
          </a:xfrm>
          <a:prstGeom prst="roundRect">
            <a:avLst>
              <a:gd name="adj" fmla="val 4500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574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ORIENTOU TUDO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concluir um pedido com integridade garantida pelo banco, e não pela boa vontade da aplicação?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8288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requisitos funcionais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214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com critério de aceite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8529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requisitos não funcionais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314553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integridade, segurança, desempenho, recuperação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8770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priorizado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41696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entra no MVP e o que fica como evolução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49011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do processo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519379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os pontos de validação marcados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06908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Decidimos aqui que o carrinho seria sessão, e não tabela: ele é processo, não entidade — existe só enquanto a compra não fecha.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Etapas 1 e 2 — O modelo e as constraints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Escrevemos o DDL à mão. db.create_all() não é chamado em lugar nenhum.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574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DE MODELAGEM CENTRAL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moagem mora no item, não no produto.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889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escolhe na compra. É esse atributo que faz itens_pedido ser entidade de verdade, e não tabela de ligação.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828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1965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98280" y="1828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10012680" y="1965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9260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30632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098280" y="29260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10012680" y="30632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20624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no banco e não só na aplicação: a validação do formulário protege a experiência; a constraint protege o dado. Se amanhã alguém inserir por script ou por API, a regra continua valendo.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1663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pontuacao_sca BETWEEN 80 AND 100  —  café especial, por definição da SCA, pontua 80 ou mais.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6 — O checkout transacional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coração do trabalho. Tudo, ou absolutamente nada.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749040" cy="2286000"/>
          </a:xfrm>
          <a:prstGeom prst="roundRect">
            <a:avLst>
              <a:gd name="adj" fmla="val 3600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20574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331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travar e validar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6974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… FOR UPDATE em cada café,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ordem crescente de id.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é gravado ainda.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828800"/>
            <a:ext cx="37490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56048" y="20574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956048" y="23317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56048" y="26974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do pedido e dos itens,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preço congelado.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do estoque.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86800" y="1828800"/>
            <a:ext cx="2862072" cy="2286000"/>
          </a:xfrm>
          <a:prstGeom prst="roundRect">
            <a:avLst>
              <a:gd name="adj" fmla="val 3600"/>
            </a:avLst>
          </a:prstGeom>
          <a:solidFill>
            <a:srgbClr val="EEF6F1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79408" y="20574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979408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B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979408" y="26974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ROLLBACK em qualquer falha, desfazendo a transação inteira.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43400"/>
            <a:ext cx="10908792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5537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DECISÕES QUE VALEM EXPLICAR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864608"/>
            <a:ext cx="10268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Travamos em ordem crescente de id.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compras simultâneas travando os mesmos cafés em ordens opostas entrariam em deadlock.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é inserido antes da validação terminar.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caso de erro nem chega a criar o cabeçalho do pedido.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7 — Os testes, e o que eles pegaram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testes contra um PostgreSQL real. Não SQLite.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949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29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SQLITE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SELECT … FOR UPDATE e as constraints CHECK são justamente o que precisa ser testado — e o SQLite trata os dois de forma diferente. Testar contra outro banco daria confiança falsa.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5394960" cy="2148840"/>
          </a:xfrm>
          <a:prstGeom prst="roundRect">
            <a:avLst>
              <a:gd name="adj" fmla="val 3830"/>
            </a:avLst>
          </a:prstGeom>
          <a:solidFill>
            <a:srgbClr val="FDF0ED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382219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TESTE NOSSO ESTAVA ERRADO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133088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Escrevemos um teste que inseria a moagem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41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'EXTRAFINA'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esperando que o CHECK recusasse. O banco recusou — mas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tamanho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coluna é VARCHAR(6) e a palavra tem 9 caracteres.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era barrado, mas pela regra errada. O teste não provava o que dizia provar.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18745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ESTÁ COBERTO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92240" y="2295144"/>
            <a:ext cx="146304" cy="146304"/>
          </a:xfrm>
          <a:prstGeom prst="ellipse">
            <a:avLst/>
          </a:prstGeom>
          <a:solidFill>
            <a:srgbClr val="D4622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12280" y="22128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normal grava pedido, itens e baixa estoque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92240" y="2798064"/>
            <a:ext cx="146304" cy="146304"/>
          </a:xfrm>
          <a:prstGeom prst="ellipse">
            <a:avLst/>
          </a:prstGeom>
          <a:solidFill>
            <a:srgbClr val="D462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12280" y="27157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insuficiente faz rollback completo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92240" y="3300984"/>
            <a:ext cx="146304" cy="146304"/>
          </a:xfrm>
          <a:prstGeom prst="ellipse">
            <a:avLst/>
          </a:prstGeom>
          <a:solidFill>
            <a:srgbClr val="D4622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12280" y="32186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inexistente não finaliza o pedido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92240" y="3803904"/>
            <a:ext cx="146304" cy="146304"/>
          </a:xfrm>
          <a:prstGeom prst="ellipse">
            <a:avLst/>
          </a:prstGeom>
          <a:solidFill>
            <a:srgbClr val="D462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12280" y="37216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Preço, estoque, SCA e moagem inválidos são recusados pelo banco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4306824"/>
            <a:ext cx="146304" cy="146304"/>
          </a:xfrm>
          <a:prstGeom prst="ellipse">
            <a:avLst/>
          </a:prstGeom>
          <a:solidFill>
            <a:srgbClr val="D462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12280" y="42245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nunca é gravada em texto puro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92240" y="4809744"/>
            <a:ext cx="146304" cy="146304"/>
          </a:xfrm>
          <a:prstGeom prst="ellipse">
            <a:avLst/>
          </a:prstGeom>
          <a:solidFill>
            <a:srgbClr val="D4622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47274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café em duas moagens vira duas linhas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92240" y="5312664"/>
            <a:ext cx="146304" cy="146304"/>
          </a:xfrm>
          <a:prstGeom prst="ellipse">
            <a:avLst/>
          </a:prstGeom>
          <a:solidFill>
            <a:srgbClr val="D4622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12280" y="52303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congelado sobrevive a um reajuste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problemas que só apareceram em produção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deploy é uma etapa do trabalho, não um detalhe do final. Funcionar na máquina do desenvolvedor não é funcionar.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356616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29968"/>
            <a:ext cx="457200" cy="457200"/>
          </a:xfrm>
          <a:prstGeom prst="ellipse">
            <a:avLst/>
          </a:prstGeom>
          <a:solidFill>
            <a:srgbClr val="FDF0E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aplicação estava usando superusuário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provedor entrega a conexão como postgres, que é superusuário do container. Isso violava um requisito do próprio material.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3891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Criamos o papel torra_app, sem SUPERUSER. Verificado: DROP TABLE é negado.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828800"/>
            <a:ext cx="3429000" cy="356616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2029968"/>
            <a:ext cx="457200" cy="457200"/>
          </a:xfrm>
          <a:prstGeom prst="ellipse">
            <a:avLst/>
          </a:prstGeom>
          <a:solidFill>
            <a:srgbClr val="FDF0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1772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6060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pg_dump local era velho demais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17.5 contra servidor 18.6 — o pg_dump se recusa a dumpar um servidor mais novo que ele.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43891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Rodamos o backup de dentro do container do banco, onde as ferramentas são da versão exata.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429000" cy="356616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21040" y="2029968"/>
            <a:ext cx="457200" cy="457200"/>
          </a:xfrm>
          <a:prstGeom prst="ellipse">
            <a:avLst/>
          </a:prstGeom>
          <a:solidFill>
            <a:srgbClr val="EFECE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2104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060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deploy automático não dispara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pertence a outra conta do GitHub, e o Railway respondeu: “no one in the project has access to it”.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3891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do dono do repositório autorizar. Enquanto isso, o deploy é manual e funciona.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5321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dos três aparece em ambiente local — todos foram encontrados conferindo o que estava no ar, em vez de assumir que estava certo.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Segurança — rodamos o OWASP ZAP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Onze alertas. Oito eram reais e foram corrigidos.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852160" cy="2377440"/>
          </a:xfrm>
          <a:prstGeom prst="roundRect">
            <a:avLst>
              <a:gd name="adj" fmla="val 3462"/>
            </a:avLst>
          </a:prstGeom>
          <a:solidFill>
            <a:srgbClr val="FDF0ED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574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A83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ACHADO QUE IMPORTAVA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5212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token CSRF e sem SameSite no cookie, um site malicioso visitado por um cliente logado poderia disparar um POST para /checkout usando o cookie dele — o navegador anexa o cookie sozinho e não sabe distinguir o formulário. O pedido sairia de verdade.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389120"/>
            <a:ext cx="5852160" cy="1371600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45720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DEFESAS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8646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SameSite=Lax barra o cookie em POST de outro site. O token CSRF é um segredo que só o nosso HTML conhece — e o atacante não consegue ler a sessão para forjá-lo.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8745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CORRIGIDOS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949440" y="2313432"/>
            <a:ext cx="137160" cy="137160"/>
          </a:xfrm>
          <a:prstGeom prst="ellipse">
            <a:avLst/>
          </a:prstGeom>
          <a:solidFill>
            <a:srgbClr val="2F6B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69480" y="2240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sem flag Secure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949440" y="2770632"/>
            <a:ext cx="137160" cy="137160"/>
          </a:xfrm>
          <a:prstGeom prst="ellipse">
            <a:avLst/>
          </a:prstGeom>
          <a:solidFill>
            <a:srgbClr val="2F6B4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6948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ausente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949440" y="3227832"/>
            <a:ext cx="137160" cy="137160"/>
          </a:xfrm>
          <a:prstGeom prst="ellipse">
            <a:avLst/>
          </a:prstGeom>
          <a:solidFill>
            <a:srgbClr val="2F6B4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31546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 anti-clickjacking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3685032"/>
            <a:ext cx="137160" cy="137160"/>
          </a:xfrm>
          <a:prstGeom prst="ellipse">
            <a:avLst/>
          </a:prstGeom>
          <a:solidFill>
            <a:srgbClr val="2F6B4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694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HSTS não definido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949440" y="4142232"/>
            <a:ext cx="137160" cy="137160"/>
          </a:xfrm>
          <a:prstGeom prst="ellipse">
            <a:avLst/>
          </a:prstGeom>
          <a:solidFill>
            <a:srgbClr val="2F6B4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69480" y="4069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X-Content-Type-Options ausente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949440" y="4599432"/>
            <a:ext cx="137160" cy="137160"/>
          </a:xfrm>
          <a:prstGeom prst="ellipse">
            <a:avLst/>
          </a:prstGeom>
          <a:solidFill>
            <a:srgbClr val="2F6B4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2694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em página de cliente logado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5029200"/>
            <a:ext cx="4617720" cy="777240"/>
          </a:xfrm>
          <a:prstGeom prst="roundRect">
            <a:avLst>
              <a:gd name="adj" fmla="val 10588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23760" y="51937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loja não tem uma linha de JavaScript — o que permitiu a política mais restritiva possível e torna XSS inviável.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41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projeto em números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56032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2996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834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1272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constraints e 4 índices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38144" y="1828800"/>
            <a:ext cx="256032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12464" y="202996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712464" y="2834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712464" y="31272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passando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36208" y="1828800"/>
            <a:ext cx="256032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0528" y="202996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10528" y="2834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31272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4 regiões produtoras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34272" y="1828800"/>
            <a:ext cx="256032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08592" y="202996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46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9308592" y="2834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308592" y="31272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etapa da construção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10908792" cy="1828800"/>
          </a:xfrm>
          <a:prstGeom prst="roundRect">
            <a:avLst>
              <a:gd name="adj" fmla="val 4500"/>
            </a:avLst>
          </a:prstGeom>
          <a:solidFill>
            <a:srgbClr val="FBF0E9"/>
          </a:solidFill>
          <a:ln w="9525">
            <a:solidFill>
              <a:srgbClr val="E8E4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1605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DE FORA, DE PROPÓSITO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526280"/>
            <a:ext cx="10177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real e frete    ·    Área administrativa    ·    Relatórios de venda
</a:t>
            </a:r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lote e data de torra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evolução mais natural do domínio, e a que mais mexeria no modelo
</a:t>
            </a:r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entre dispositivos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é exatamente onde um Redis passaria a fazer sentido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97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nivaldo.felipefurlan.com.br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3712464"/>
            <a:ext cx="347472" cy="347472"/>
          </a:xfrm>
          <a:prstGeom prst="ellipse">
            <a:avLst/>
          </a:prstGeom>
          <a:solidFill>
            <a:srgbClr val="2A26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37124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6576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e filtro por região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224528"/>
            <a:ext cx="347472" cy="347472"/>
          </a:xfrm>
          <a:prstGeom prst="ellipse">
            <a:avLst/>
          </a:prstGeom>
          <a:solidFill>
            <a:srgbClr val="2A26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4224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416966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da moagem — a decisão de modelagem, na tela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736592"/>
            <a:ext cx="347472" cy="347472"/>
          </a:xfrm>
          <a:prstGeom prst="ellipse">
            <a:avLst/>
          </a:prstGeom>
          <a:solidFill>
            <a:srgbClr val="2A262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736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68172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Checkout: o pedido gravado e o estoque baixando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5248656"/>
            <a:ext cx="347472" cy="347472"/>
          </a:xfrm>
          <a:prstGeom prst="ellipse">
            <a:avLst/>
          </a:prstGeom>
          <a:solidFill>
            <a:srgbClr val="D462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5248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519379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cenário de erro: comprar 2 de um café com estoque 1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760720"/>
            <a:ext cx="347472" cy="347472"/>
          </a:xfrm>
          <a:prstGeom prst="ellipse">
            <a:avLst/>
          </a:prstGeom>
          <a:solidFill>
            <a:srgbClr val="2A26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760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70585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9C2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SELECT provando que nada foi gravado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70332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9B92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Chapada Geisha está com estoque 1, de propósito.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Torra &amp; Terra — do requisito ao deploy</dc:title>
  <dc:subject>PptxGenJS Presentation</dc:subject>
  <dc:creator>Felipe Furlan</dc:creator>
  <cp:lastModifiedBy>Felipe Furlan</cp:lastModifiedBy>
  <cp:revision>1</cp:revision>
  <dcterms:created xsi:type="dcterms:W3CDTF">2026-09-02T23:14:39Z</dcterms:created>
  <dcterms:modified xsi:type="dcterms:W3CDTF">2026-09-02T23:14:39Z</dcterms:modified>
</cp:coreProperties>
</file>